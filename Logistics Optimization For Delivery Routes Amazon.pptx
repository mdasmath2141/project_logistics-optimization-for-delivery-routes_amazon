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3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9150" autoAdjust="0"/>
  </p:normalViewPr>
  <p:slideViewPr>
    <p:cSldViewPr snapToGrid="0" snapToObjects="1">
      <p:cViewPr varScale="1">
        <p:scale>
          <a:sx n="74" d="100"/>
          <a:sy n="74" d="100"/>
        </p:scale>
        <p:origin x="126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2D08E0-4DA4-4861-866E-A39A208152C5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80D54-2A54-48C0-8ECF-D3AB4AC588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033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680D54-2A54-48C0-8ECF-D3AB4AC5886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602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83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018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789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9039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4946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848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409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562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259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580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65891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6323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608125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7373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2647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6993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23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  <p:sldLayoutId id="2147483856" r:id="rId13"/>
    <p:sldLayoutId id="2147483857" r:id="rId14"/>
    <p:sldLayoutId id="2147483858" r:id="rId15"/>
    <p:sldLayoutId id="2147483859" r:id="rId16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om.com/share/c81157497d5249e69ed1e9064857f691" TargetMode="External"/><Relationship Id="rId2" Type="http://schemas.openxmlformats.org/officeDocument/2006/relationships/hyperlink" Target="https://drive.google.com/file/d/1BzdfQLPRXAVpYinMSYaKCdA7EawdN3nW/view?usp=drive_link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drive/folders/1YlTyke4EfkESYQz3g0PZmUnQxuxZOach?usp=drive_link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02870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b="1" i="1" dirty="0">
                <a:solidFill>
                  <a:srgbClr val="002060"/>
                </a:solidFill>
              </a:rPr>
              <a:t>Logistics Optimization for Delivery Routes – Amazon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44" y="1498600"/>
            <a:ext cx="9042400" cy="49831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sz="2800" b="1" dirty="0">
                <a:solidFill>
                  <a:srgbClr val="0070C0"/>
                </a:solidFill>
              </a:rPr>
              <a:t>SQL-Based Analytics Project</a:t>
            </a:r>
            <a:endParaRPr lang="en-IN" sz="2000" dirty="0"/>
          </a:p>
          <a:p>
            <a:pPr marL="3543300" lvl="8" indent="0">
              <a:buNone/>
            </a:pPr>
            <a:endParaRPr lang="en-IN" dirty="0"/>
          </a:p>
          <a:p>
            <a:pPr marL="3543300" lvl="8" indent="0">
              <a:buNone/>
            </a:pPr>
            <a:endParaRPr lang="en-IN" dirty="0"/>
          </a:p>
          <a:p>
            <a:pPr marL="3543300" lvl="8" indent="0">
              <a:buNone/>
            </a:pPr>
            <a:endParaRPr lang="en-IN" dirty="0"/>
          </a:p>
          <a:p>
            <a:pPr marL="3543300" lvl="8" indent="0">
              <a:buNone/>
            </a:pPr>
            <a:r>
              <a:rPr sz="3200" dirty="0"/>
              <a:t>Name:</a:t>
            </a:r>
            <a:r>
              <a:rPr lang="en-IN" sz="3200" dirty="0"/>
              <a:t>  MD ASMATH SHAIKH</a:t>
            </a:r>
            <a:endParaRPr sz="3200" dirty="0"/>
          </a:p>
          <a:p>
            <a:pPr marL="3543300" lvl="8" indent="0">
              <a:buNone/>
            </a:pPr>
            <a:r>
              <a:rPr lang="en-IN" sz="3200" dirty="0"/>
              <a:t>Batch</a:t>
            </a:r>
            <a:r>
              <a:rPr sz="3200" dirty="0"/>
              <a:t>:</a:t>
            </a:r>
            <a:r>
              <a:rPr lang="en-IN" sz="3200" dirty="0"/>
              <a:t> DEC 2025</a:t>
            </a:r>
            <a:endParaRPr sz="3200" dirty="0"/>
          </a:p>
          <a:p>
            <a:pPr marL="3543300" lvl="8" indent="0">
              <a:buNone/>
            </a:pPr>
            <a:r>
              <a:rPr sz="3200" dirty="0"/>
              <a:t>Date:</a:t>
            </a:r>
            <a:r>
              <a:rPr lang="en-IN" sz="3200" dirty="0"/>
              <a:t>13/03/2026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038" y="318993"/>
            <a:ext cx="7096836" cy="571523"/>
          </a:xfrm>
        </p:spPr>
        <p:txBody>
          <a:bodyPr>
            <a:noAutofit/>
          </a:bodyPr>
          <a:lstStyle/>
          <a:p>
            <a:r>
              <a:rPr sz="3200" b="1" i="1" u="sng" dirty="0">
                <a:solidFill>
                  <a:srgbClr val="FF0000"/>
                </a:solidFill>
              </a:rPr>
              <a:t>Business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0516"/>
            <a:ext cx="8229600" cy="682046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sz="2400" b="1" u="sng" dirty="0">
                <a:solidFill>
                  <a:srgbClr val="7030A0"/>
                </a:solidFill>
              </a:rPr>
              <a:t>Amazon operates a vast logistics network including:</a:t>
            </a:r>
          </a:p>
          <a:p>
            <a:pPr lvl="2"/>
            <a:r>
              <a:rPr sz="2400" dirty="0"/>
              <a:t>Warehouses</a:t>
            </a:r>
          </a:p>
          <a:p>
            <a:pPr lvl="2"/>
            <a:r>
              <a:rPr sz="2400" dirty="0"/>
              <a:t>Fulfillment centers</a:t>
            </a:r>
          </a:p>
          <a:p>
            <a:pPr lvl="2"/>
            <a:r>
              <a:rPr sz="2400" dirty="0"/>
              <a:t>Delivery agents</a:t>
            </a:r>
          </a:p>
          <a:p>
            <a:pPr lvl="2"/>
            <a:r>
              <a:rPr sz="2400" dirty="0"/>
              <a:t>Multi-city routes</a:t>
            </a:r>
            <a:endParaRPr sz="2800" dirty="0"/>
          </a:p>
          <a:p>
            <a:pPr>
              <a:buFont typeface="Wingdings" panose="05000000000000000000" pitchFamily="2" charset="2"/>
              <a:buChar char="v"/>
            </a:pPr>
            <a:r>
              <a:rPr sz="2400" b="1" u="sng" dirty="0">
                <a:solidFill>
                  <a:srgbClr val="7030A0"/>
                </a:solidFill>
              </a:rPr>
              <a:t>Core Challenges:</a:t>
            </a:r>
          </a:p>
          <a:p>
            <a:pPr lvl="2"/>
            <a:r>
              <a:rPr sz="2400" dirty="0"/>
              <a:t>Route congestion</a:t>
            </a:r>
          </a:p>
          <a:p>
            <a:pPr lvl="2"/>
            <a:r>
              <a:rPr sz="2400" dirty="0"/>
              <a:t>Delivery delays</a:t>
            </a:r>
          </a:p>
          <a:p>
            <a:pPr lvl="2"/>
            <a:r>
              <a:rPr sz="2400" dirty="0"/>
              <a:t>Warehouse bottlenecks</a:t>
            </a:r>
          </a:p>
          <a:p>
            <a:pPr lvl="2"/>
            <a:r>
              <a:rPr sz="2400" dirty="0"/>
              <a:t>Agent performance inconsistency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5143" y="535895"/>
            <a:ext cx="6538686" cy="817183"/>
          </a:xfrm>
        </p:spPr>
        <p:txBody>
          <a:bodyPr>
            <a:normAutofit/>
          </a:bodyPr>
          <a:lstStyle/>
          <a:p>
            <a:r>
              <a:rPr sz="3200" b="1" i="1" u="sng" dirty="0">
                <a:solidFill>
                  <a:srgbClr val="FF0000"/>
                </a:solidFill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8613"/>
            <a:ext cx="6347714" cy="38807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sz="2600" b="1" dirty="0">
                <a:solidFill>
                  <a:srgbClr val="7030A0"/>
                </a:solidFill>
              </a:rPr>
              <a:t>Build a SQL-driven logistics analytics system to:</a:t>
            </a:r>
            <a:r>
              <a:rPr lang="en-IN" sz="2600" b="1" dirty="0">
                <a:solidFill>
                  <a:srgbClr val="7030A0"/>
                </a:solidFill>
              </a:rPr>
              <a:t>-</a:t>
            </a:r>
            <a:endParaRPr sz="2600" b="1" dirty="0">
              <a:solidFill>
                <a:srgbClr val="7030A0"/>
              </a:solidFill>
            </a:endParaRPr>
          </a:p>
          <a:p>
            <a:pPr lvl="1">
              <a:buFont typeface="Calibri" panose="020F0502020204030204" pitchFamily="34" charset="0"/>
              <a:buChar char="→"/>
            </a:pPr>
            <a:r>
              <a:rPr sz="2400" dirty="0"/>
              <a:t> Analyze delivery delays</a:t>
            </a:r>
          </a:p>
          <a:p>
            <a:pPr lvl="1">
              <a:buFont typeface="Calibri" panose="020F0502020204030204" pitchFamily="34" charset="0"/>
              <a:buChar char="→"/>
            </a:pPr>
            <a:r>
              <a:rPr sz="2400" dirty="0"/>
              <a:t> Identify inefficient routes</a:t>
            </a:r>
          </a:p>
          <a:p>
            <a:pPr lvl="1">
              <a:buFont typeface="Calibri" panose="020F0502020204030204" pitchFamily="34" charset="0"/>
              <a:buChar char="→"/>
            </a:pPr>
            <a:r>
              <a:rPr sz="2400" dirty="0"/>
              <a:t> Evaluate warehouse performance</a:t>
            </a:r>
          </a:p>
          <a:p>
            <a:pPr lvl="1">
              <a:buFont typeface="Calibri" panose="020F0502020204030204" pitchFamily="34" charset="0"/>
              <a:buChar char="→"/>
            </a:pPr>
            <a:r>
              <a:rPr sz="2400" dirty="0"/>
              <a:t> Measure agent efficiency</a:t>
            </a:r>
            <a:endParaRPr lang="en-IN" sz="2400" dirty="0"/>
          </a:p>
          <a:p>
            <a:pPr lvl="1">
              <a:buFont typeface="Calibri" panose="020F0502020204030204" pitchFamily="34" charset="0"/>
              <a:buChar char="→"/>
            </a:pPr>
            <a:r>
              <a:rPr lang="en-IN" sz="2400" dirty="0"/>
              <a:t> </a:t>
            </a:r>
            <a:r>
              <a:rPr lang="en-IN" sz="2400" dirty="0" err="1"/>
              <a:t>Analyze</a:t>
            </a:r>
            <a:r>
              <a:rPr lang="en-IN" sz="2400" dirty="0"/>
              <a:t> shipment Tracking</a:t>
            </a:r>
          </a:p>
          <a:p>
            <a:pPr lvl="1">
              <a:buFont typeface="Calibri" panose="020F0502020204030204" pitchFamily="34" charset="0"/>
              <a:buChar char="→"/>
            </a:pPr>
            <a:r>
              <a:rPr lang="en-IN" sz="2400" dirty="0"/>
              <a:t> KPI Reporting</a:t>
            </a:r>
            <a:endParaRPr sz="2400" dirty="0"/>
          </a:p>
          <a:p>
            <a:pPr lvl="1">
              <a:buFont typeface="Calibri" panose="020F0502020204030204" pitchFamily="34" charset="0"/>
              <a:buChar char="→"/>
            </a:pPr>
            <a:r>
              <a:rPr sz="2400" dirty="0"/>
              <a:t> Provide actionable recommendations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5342" y="202067"/>
            <a:ext cx="5653315" cy="915532"/>
          </a:xfrm>
        </p:spPr>
        <p:txBody>
          <a:bodyPr>
            <a:normAutofit/>
          </a:bodyPr>
          <a:lstStyle/>
          <a:p>
            <a:r>
              <a:rPr sz="3200" b="1" i="1" u="sng" dirty="0">
                <a:solidFill>
                  <a:srgbClr val="FF0000"/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240" y="1117599"/>
            <a:ext cx="8229600" cy="5113791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sz="3500" b="1" dirty="0"/>
              <a:t>Tables Used: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sz="2300" dirty="0"/>
              <a:t>Orders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sz="2300" dirty="0"/>
              <a:t>Routes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sz="2300" dirty="0"/>
              <a:t>Warehouses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sz="2300" dirty="0" err="1"/>
              <a:t>Delivery_Agents</a:t>
            </a:r>
            <a:endParaRPr sz="2300" dirty="0"/>
          </a:p>
          <a:p>
            <a:pPr lvl="1">
              <a:buFont typeface="Wingdings" panose="05000000000000000000" pitchFamily="2" charset="2"/>
              <a:buChar char="Ø"/>
            </a:pPr>
            <a:r>
              <a:rPr sz="2300" dirty="0" err="1"/>
              <a:t>Shipment_Tracking</a:t>
            </a:r>
            <a:endParaRPr sz="2300" dirty="0"/>
          </a:p>
          <a:p>
            <a:endParaRPr dirty="0"/>
          </a:p>
          <a:p>
            <a:pPr>
              <a:buFont typeface="Wingdings" panose="05000000000000000000" pitchFamily="2" charset="2"/>
              <a:buChar char="v"/>
            </a:pPr>
            <a:r>
              <a:rPr sz="3000" b="1" dirty="0"/>
              <a:t>Key Fields:</a:t>
            </a:r>
            <a:endParaRPr lang="en-US" sz="3000" b="1" dirty="0"/>
          </a:p>
          <a:p>
            <a:pPr marL="1257300" lvl="3" indent="0">
              <a:buNone/>
            </a:pPr>
            <a:r>
              <a:rPr lang="en-US" sz="1900" dirty="0" err="1"/>
              <a:t>Order_ID</a:t>
            </a:r>
            <a:r>
              <a:rPr lang="en-US" sz="1900" dirty="0"/>
              <a:t>, </a:t>
            </a:r>
            <a:r>
              <a:rPr lang="en-US" sz="1900" dirty="0" err="1"/>
              <a:t>Route_ID</a:t>
            </a:r>
            <a:r>
              <a:rPr lang="en-US" sz="1900" dirty="0"/>
              <a:t>, </a:t>
            </a:r>
            <a:r>
              <a:rPr lang="en-US" sz="1900" dirty="0" err="1"/>
              <a:t>Warehouse_ID</a:t>
            </a:r>
            <a:r>
              <a:rPr lang="en-US" sz="1900" dirty="0"/>
              <a:t>, </a:t>
            </a:r>
          </a:p>
          <a:p>
            <a:pPr marL="1257300" lvl="3" indent="0">
              <a:buNone/>
            </a:pPr>
            <a:r>
              <a:rPr sz="1900" dirty="0" err="1"/>
              <a:t>Agent_ID,Traffic_Delay_Min</a:t>
            </a:r>
            <a:r>
              <a:rPr sz="1900" dirty="0"/>
              <a:t>, </a:t>
            </a:r>
            <a:r>
              <a:rPr sz="1900" dirty="0" err="1"/>
              <a:t>Distance_KM</a:t>
            </a:r>
            <a:r>
              <a:rPr sz="1900" dirty="0"/>
              <a:t>, </a:t>
            </a:r>
            <a:endParaRPr lang="en-IN" sz="1900" dirty="0"/>
          </a:p>
          <a:p>
            <a:pPr marL="1257300" lvl="3" indent="0">
              <a:buNone/>
            </a:pPr>
            <a:r>
              <a:rPr sz="1900" dirty="0" err="1"/>
              <a:t>Processing_Time_Min</a:t>
            </a:r>
            <a:r>
              <a:rPr sz="1900" dirty="0"/>
              <a:t>, Status</a:t>
            </a:r>
            <a:r>
              <a:rPr lang="en-IN" sz="1900" dirty="0"/>
              <a:t>,   </a:t>
            </a:r>
          </a:p>
          <a:p>
            <a:pPr marL="1257300" lvl="3" indent="0">
              <a:buNone/>
            </a:pPr>
            <a:r>
              <a:rPr lang="en-IN" sz="1900" dirty="0" err="1"/>
              <a:t>Delivery_status</a:t>
            </a:r>
            <a:r>
              <a:rPr lang="en-IN" sz="1900" dirty="0"/>
              <a:t>, </a:t>
            </a:r>
            <a:r>
              <a:rPr lang="en-IN" sz="1900" dirty="0" err="1"/>
              <a:t>Actual_Delivery_Time</a:t>
            </a:r>
            <a:r>
              <a:rPr lang="en-IN" sz="1900" dirty="0"/>
              <a:t>, 	</a:t>
            </a:r>
          </a:p>
          <a:p>
            <a:pPr marL="1257300" lvl="3" indent="0">
              <a:buNone/>
            </a:pPr>
            <a:r>
              <a:rPr lang="en-IN" sz="1900" dirty="0" err="1"/>
              <a:t>Expected_Delivery_Time</a:t>
            </a:r>
            <a:endParaRPr sz="1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5527" y="274638"/>
            <a:ext cx="4773901" cy="489637"/>
          </a:xfrm>
        </p:spPr>
        <p:txBody>
          <a:bodyPr>
            <a:normAutofit fontScale="90000"/>
          </a:bodyPr>
          <a:lstStyle/>
          <a:p>
            <a:r>
              <a:rPr sz="3600" b="1" i="1" u="sng" dirty="0">
                <a:solidFill>
                  <a:srgbClr val="FF0000"/>
                </a:solidFill>
              </a:rPr>
              <a:t>Task 1: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972" y="1011618"/>
            <a:ext cx="8229600" cy="5571744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sz="2000" b="1" dirty="0"/>
              <a:t>Removed duplicate </a:t>
            </a:r>
            <a:r>
              <a:rPr sz="2000" b="1" dirty="0" err="1"/>
              <a:t>Order_ID</a:t>
            </a:r>
            <a:r>
              <a:rPr sz="2000" b="1" dirty="0"/>
              <a:t> records</a:t>
            </a:r>
            <a:endParaRPr lang="en-IN" sz="2000" b="1" dirty="0"/>
          </a:p>
          <a:p>
            <a:pPr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0" indent="0">
              <a:buNone/>
            </a:pPr>
            <a:endParaRPr sz="2000" dirty="0"/>
          </a:p>
          <a:p>
            <a:pPr>
              <a:buFont typeface="Wingdings" panose="05000000000000000000" pitchFamily="2" charset="2"/>
              <a:buChar char="Ø"/>
            </a:pPr>
            <a:r>
              <a:rPr sz="2000" b="1" dirty="0"/>
              <a:t> Replaced NULL </a:t>
            </a:r>
            <a:r>
              <a:rPr sz="2000" b="1" dirty="0" err="1"/>
              <a:t>Traffic_Delay_Min</a:t>
            </a:r>
            <a:r>
              <a:rPr sz="2000" b="1" dirty="0"/>
              <a:t> with route average</a:t>
            </a:r>
            <a:endParaRPr lang="en-IN" sz="2000" b="1" dirty="0"/>
          </a:p>
          <a:p>
            <a:pPr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sz="2000" dirty="0"/>
          </a:p>
          <a:p>
            <a:pPr>
              <a:buFont typeface="Wingdings" panose="05000000000000000000" pitchFamily="2" charset="2"/>
              <a:buChar char="Ø"/>
            </a:pPr>
            <a:r>
              <a:rPr sz="2000" dirty="0"/>
              <a:t> </a:t>
            </a:r>
            <a:r>
              <a:rPr sz="2000" b="1" dirty="0"/>
              <a:t>Converted date fields to YYYY-MM-DD</a:t>
            </a:r>
            <a:endParaRPr lang="en-IN" sz="2000" b="1" dirty="0"/>
          </a:p>
          <a:p>
            <a:pPr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sz="2000" dirty="0"/>
          </a:p>
          <a:p>
            <a:pPr>
              <a:buFont typeface="Wingdings" panose="05000000000000000000" pitchFamily="2" charset="2"/>
              <a:buChar char="Ø"/>
            </a:pPr>
            <a:r>
              <a:rPr sz="2000" b="1" dirty="0"/>
              <a:t>Flagged invalid delivery records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3C114-6CD0-CB2A-30FC-E2AD628AB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528" y="1426953"/>
            <a:ext cx="5036879" cy="782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CDC5F4-627A-B284-DD37-92AD7F9F8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498" y="2717803"/>
            <a:ext cx="6364547" cy="17047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DBA418-2A83-8790-F6D9-00B0B939A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140" y="4931344"/>
            <a:ext cx="6109719" cy="9994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038"/>
            <a:ext cx="8229600" cy="457199"/>
          </a:xfrm>
        </p:spPr>
        <p:txBody>
          <a:bodyPr>
            <a:noAutofit/>
          </a:bodyPr>
          <a:lstStyle/>
          <a:p>
            <a:r>
              <a:rPr sz="3200" b="1" i="1" u="sng" dirty="0">
                <a:solidFill>
                  <a:srgbClr val="FF0000"/>
                </a:solidFill>
              </a:rPr>
              <a:t>Task 2: Delivery Delay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31209"/>
            <a:ext cx="8229600" cy="59743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u="sng" dirty="0">
                <a:solidFill>
                  <a:srgbClr val="002060"/>
                </a:solidFill>
              </a:rPr>
              <a:t>Analysis Performed:</a:t>
            </a:r>
          </a:p>
          <a:p>
            <a:r>
              <a:rPr b="1" dirty="0"/>
              <a:t>Calculated Delivery Delay using DATEDIFF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dirty="0"/>
          </a:p>
          <a:p>
            <a:r>
              <a:rPr b="1" dirty="0"/>
              <a:t>- Top 10 delayed routes</a:t>
            </a:r>
            <a:endParaRPr lang="en-IN" b="1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dirty="0"/>
          </a:p>
          <a:p>
            <a:r>
              <a:rPr b="1" dirty="0"/>
              <a:t>- Warehouse-level delay ranking</a:t>
            </a:r>
            <a:endParaRPr lang="en-IN" b="1" dirty="0"/>
          </a:p>
          <a:p>
            <a:pPr marL="457200" lvl="1" indent="0">
              <a:buNone/>
            </a:pPr>
            <a:r>
              <a:rPr lang="en-US" b="1" dirty="0"/>
              <a:t>	Ranked orders using window functions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4F262E-422F-9697-43F0-E94F25F7D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765" y="3116032"/>
            <a:ext cx="3733235" cy="878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5FFE51-F5AF-FB78-13E4-52633E111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66" y="1563506"/>
            <a:ext cx="2978492" cy="878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387F01-1E32-D860-3733-92C1F299D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27" y="5131602"/>
            <a:ext cx="4491717" cy="1190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370" y="160337"/>
            <a:ext cx="8229600" cy="507320"/>
          </a:xfrm>
        </p:spPr>
        <p:txBody>
          <a:bodyPr>
            <a:normAutofit fontScale="90000"/>
          </a:bodyPr>
          <a:lstStyle/>
          <a:p>
            <a:r>
              <a:rPr sz="3200" b="1" i="1" u="sng" dirty="0">
                <a:solidFill>
                  <a:srgbClr val="FF0000"/>
                </a:solidFill>
              </a:rPr>
              <a:t>Task 3: Route Optimization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7080"/>
            <a:ext cx="8229600" cy="5810583"/>
          </a:xfrm>
        </p:spPr>
        <p:txBody>
          <a:bodyPr/>
          <a:lstStyle/>
          <a:p>
            <a:pPr marL="0" indent="0">
              <a:buNone/>
            </a:pPr>
            <a:r>
              <a:rPr sz="2400" b="1" dirty="0"/>
              <a:t>Metrics Calculated: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1800" dirty="0"/>
              <a:t> Av</a:t>
            </a:r>
            <a:r>
              <a:rPr sz="1800" dirty="0" err="1"/>
              <a:t>erage</a:t>
            </a:r>
            <a:r>
              <a:rPr sz="1800" dirty="0"/>
              <a:t> Delivery Time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sz="1800" dirty="0"/>
              <a:t> Average Traffic Delay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sz="1800" dirty="0"/>
              <a:t> Efficiency Ratio (Distance / Travel Time)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sz="1800" dirty="0"/>
              <a:t> </a:t>
            </a:r>
            <a:r>
              <a:rPr lang="en-IN" sz="1800" dirty="0"/>
              <a:t>Percentage (</a:t>
            </a:r>
            <a:r>
              <a:rPr sz="1800" dirty="0"/>
              <a:t>%</a:t>
            </a:r>
            <a:r>
              <a:rPr lang="en-IN" sz="1800" dirty="0"/>
              <a:t>)</a:t>
            </a:r>
            <a:r>
              <a:rPr sz="1800" dirty="0"/>
              <a:t> </a:t>
            </a:r>
            <a:r>
              <a:rPr lang="en-IN" sz="1800" dirty="0"/>
              <a:t>of </a:t>
            </a:r>
            <a:r>
              <a:rPr sz="1800" dirty="0"/>
              <a:t>Delayed Shipments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dirty="0"/>
          </a:p>
          <a:p>
            <a:r>
              <a:rPr dirty="0"/>
              <a:t>Identified worst-performing route</a:t>
            </a:r>
            <a:r>
              <a:rPr lang="en-IN" dirty="0"/>
              <a:t>s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294A8D-351F-AABF-8969-6C258CADD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143" y="3016083"/>
            <a:ext cx="6734628" cy="1552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F25ABE-D41C-3A41-9194-61A22BDC1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39" y="5083885"/>
            <a:ext cx="3428431" cy="1098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8467"/>
            <a:ext cx="8229600" cy="457199"/>
          </a:xfrm>
        </p:spPr>
        <p:txBody>
          <a:bodyPr>
            <a:noAutofit/>
          </a:bodyPr>
          <a:lstStyle/>
          <a:p>
            <a:r>
              <a:rPr sz="3200" b="1" i="1" u="sng" dirty="0">
                <a:solidFill>
                  <a:srgbClr val="FF0000"/>
                </a:solidFill>
              </a:rPr>
              <a:t>Route Optimization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61295"/>
            <a:ext cx="6347714" cy="43127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sz="2400" b="1" dirty="0"/>
              <a:t>Issues Observed:</a:t>
            </a:r>
          </a:p>
          <a:p>
            <a:pPr lvl="2"/>
            <a:r>
              <a:rPr sz="1800" dirty="0"/>
              <a:t>High congestion</a:t>
            </a:r>
          </a:p>
          <a:p>
            <a:pPr lvl="2"/>
            <a:r>
              <a:rPr sz="1800" dirty="0"/>
              <a:t>Low efficiency ratio</a:t>
            </a:r>
          </a:p>
          <a:p>
            <a:pPr lvl="2"/>
            <a:r>
              <a:rPr sz="1800" dirty="0"/>
              <a:t>High delay percentage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400" b="1" dirty="0"/>
              <a:t>Recommended Actions:</a:t>
            </a:r>
          </a:p>
          <a:p>
            <a:pPr lvl="2"/>
            <a:r>
              <a:rPr sz="1800" dirty="0"/>
              <a:t>Real-time rerouting</a:t>
            </a:r>
          </a:p>
          <a:p>
            <a:pPr lvl="2"/>
            <a:r>
              <a:rPr sz="1800" dirty="0"/>
              <a:t>Dynamic dispatch timing</a:t>
            </a:r>
          </a:p>
          <a:p>
            <a:pPr lvl="2"/>
            <a:r>
              <a:rPr sz="1800" dirty="0"/>
              <a:t>Route segmentation</a:t>
            </a:r>
          </a:p>
          <a:p>
            <a:pPr lvl="2"/>
            <a:r>
              <a:rPr sz="1800" dirty="0"/>
              <a:t>Micro-fulfillment hubs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0866"/>
            <a:ext cx="8229600" cy="620972"/>
          </a:xfrm>
        </p:spPr>
        <p:txBody>
          <a:bodyPr>
            <a:noAutofit/>
          </a:bodyPr>
          <a:lstStyle/>
          <a:p>
            <a:r>
              <a:rPr sz="3200" b="1" i="1" u="sng" dirty="0">
                <a:solidFill>
                  <a:srgbClr val="FF0000"/>
                </a:solidFill>
              </a:rPr>
              <a:t>Task 4: Warehouse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31838"/>
            <a:ext cx="8591266" cy="6126162"/>
          </a:xfrm>
        </p:spPr>
        <p:txBody>
          <a:bodyPr/>
          <a:lstStyle/>
          <a:p>
            <a:pPr marL="0" indent="0">
              <a:buNone/>
            </a:pPr>
            <a:r>
              <a:rPr sz="2000" b="1" u="sng" dirty="0">
                <a:solidFill>
                  <a:schemeClr val="tx1"/>
                </a:solidFill>
              </a:rPr>
              <a:t>Analysis Conducted: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rgbClr val="7030A0"/>
                </a:solidFill>
              </a:rPr>
              <a:t>Top 3 warehouses by processing time</a:t>
            </a:r>
            <a:endParaRPr lang="en-IN" sz="2000" b="1" dirty="0">
              <a:solidFill>
                <a:srgbClr val="7030A0"/>
              </a:solidFill>
            </a:endParaRPr>
          </a:p>
          <a:p>
            <a:pPr marL="400050" lvl="1" indent="0">
              <a:buNone/>
            </a:pPr>
            <a:endParaRPr lang="en-IN" sz="2000" dirty="0"/>
          </a:p>
          <a:p>
            <a:pPr marL="400050" lvl="1" indent="0">
              <a:buNone/>
            </a:pPr>
            <a:endParaRPr sz="2000" dirty="0"/>
          </a:p>
          <a:p>
            <a:pPr lvl="1"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rgbClr val="7030A0"/>
                </a:solidFill>
              </a:rPr>
              <a:t>Total vs delayed shipments</a:t>
            </a:r>
            <a:endParaRPr lang="en-IN" sz="2000" b="1" dirty="0">
              <a:solidFill>
                <a:srgbClr val="7030A0"/>
              </a:solidFill>
            </a:endParaRPr>
          </a:p>
          <a:p>
            <a:pPr lvl="1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457200" lvl="1" indent="0">
              <a:buNone/>
            </a:pPr>
            <a:endParaRPr sz="2000" b="1" dirty="0"/>
          </a:p>
          <a:p>
            <a:pPr lvl="1"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rgbClr val="7030A0"/>
                </a:solidFill>
              </a:rPr>
              <a:t>Bottleneck warehouses using CTE</a:t>
            </a:r>
            <a:endParaRPr lang="en-IN" sz="2000" b="1" dirty="0">
              <a:solidFill>
                <a:srgbClr val="7030A0"/>
              </a:solidFill>
            </a:endParaRPr>
          </a:p>
          <a:p>
            <a:pPr lvl="1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457200" lvl="1" indent="0">
              <a:buNone/>
            </a:pPr>
            <a:endParaRPr lang="en-IN" sz="2000" dirty="0"/>
          </a:p>
          <a:p>
            <a:pPr marL="457200" lvl="1" indent="0">
              <a:buNone/>
            </a:pPr>
            <a:endParaRPr sz="2000" dirty="0"/>
          </a:p>
          <a:p>
            <a:pPr lvl="1"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rgbClr val="7030A0"/>
                </a:solidFill>
              </a:rPr>
              <a:t>On-time delivery % ranking</a:t>
            </a:r>
            <a:endParaRPr lang="en-IN" sz="2000" b="1" dirty="0">
              <a:solidFill>
                <a:srgbClr val="7030A0"/>
              </a:solidFill>
            </a:endParaRPr>
          </a:p>
          <a:p>
            <a:pPr lvl="1">
              <a:buFont typeface="Wingdings" panose="05000000000000000000" pitchFamily="2" charset="2"/>
              <a:buChar char="q"/>
            </a:pPr>
            <a:endParaRPr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5670AE-1301-5B4E-5C12-32742E978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433" y="1589618"/>
            <a:ext cx="4884599" cy="676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F609C5-85C9-7798-B975-FB0EC3322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918" y="2840182"/>
            <a:ext cx="5145856" cy="10040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D55332-63CC-86B0-5CCE-71A621A28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261" y="4263849"/>
            <a:ext cx="6103960" cy="1057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9899E2-75E5-633C-B589-14B4EFCE0C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661" y="5944520"/>
            <a:ext cx="4884599" cy="8026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038"/>
            <a:ext cx="8229600" cy="457199"/>
          </a:xfrm>
        </p:spPr>
        <p:txBody>
          <a:bodyPr>
            <a:noAutofit/>
          </a:bodyPr>
          <a:lstStyle/>
          <a:p>
            <a:r>
              <a:rPr sz="3200" b="1" i="1" u="sng" dirty="0">
                <a:solidFill>
                  <a:srgbClr val="FF0000"/>
                </a:solidFill>
              </a:rPr>
              <a:t>Task 5: Delivery Agent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086" y="560047"/>
            <a:ext cx="8229600" cy="611164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Metrics: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7030A0"/>
                </a:solidFill>
              </a:rPr>
              <a:t>On-Time Delivery </a:t>
            </a:r>
            <a:r>
              <a:rPr lang="en-IN" sz="1600" b="1" dirty="0">
                <a:solidFill>
                  <a:srgbClr val="7030A0"/>
                </a:solidFill>
              </a:rPr>
              <a:t>Percentage</a:t>
            </a:r>
            <a:endParaRPr sz="1600" b="1" dirty="0">
              <a:solidFill>
                <a:srgbClr val="7030A0"/>
              </a:solidFill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7030A0"/>
                </a:solidFill>
              </a:rPr>
              <a:t>Agent ranking per route</a:t>
            </a:r>
            <a:endParaRPr lang="en-IN" sz="1600" b="1" dirty="0">
              <a:solidFill>
                <a:srgbClr val="7030A0"/>
              </a:solidFill>
            </a:endParaRPr>
          </a:p>
          <a:p>
            <a:pPr marL="914400" lvl="2" indent="0">
              <a:buNone/>
            </a:pPr>
            <a:endParaRPr lang="en-IN" b="1" dirty="0"/>
          </a:p>
          <a:p>
            <a:pPr marL="914400" lvl="2" indent="0">
              <a:buNone/>
            </a:pPr>
            <a:endParaRPr lang="en-IN" b="1" dirty="0"/>
          </a:p>
          <a:p>
            <a:pPr marL="914400" lvl="2" indent="0">
              <a:buNone/>
            </a:pPr>
            <a:endParaRPr lang="en-IN" b="1" dirty="0"/>
          </a:p>
          <a:p>
            <a:pPr marL="914400" lvl="2" indent="0">
              <a:buNone/>
            </a:pPr>
            <a:endParaRPr lang="en-IN" b="1" dirty="0"/>
          </a:p>
          <a:p>
            <a:pPr marL="914400" lvl="2" indent="0">
              <a:buNone/>
            </a:pPr>
            <a:endParaRPr b="1" dirty="0"/>
          </a:p>
          <a:p>
            <a:pPr lvl="2">
              <a:buFont typeface="Wingdings" panose="05000000000000000000" pitchFamily="2" charset="2"/>
              <a:buChar char="v"/>
            </a:pPr>
            <a:r>
              <a:rPr sz="1800" b="1" dirty="0">
                <a:solidFill>
                  <a:srgbClr val="7030A0"/>
                </a:solidFill>
              </a:rPr>
              <a:t>Agents below 80% performance</a:t>
            </a:r>
            <a:endParaRPr lang="en-IN" sz="1800" b="1" dirty="0">
              <a:solidFill>
                <a:srgbClr val="7030A0"/>
              </a:solidFill>
            </a:endParaRPr>
          </a:p>
          <a:p>
            <a:pPr lvl="2">
              <a:buFont typeface="Wingdings" panose="05000000000000000000" pitchFamily="2" charset="2"/>
              <a:buChar char="v"/>
            </a:pPr>
            <a:endParaRPr lang="en-IN" b="1" dirty="0"/>
          </a:p>
          <a:p>
            <a:pPr lvl="2">
              <a:buFont typeface="Wingdings" panose="05000000000000000000" pitchFamily="2" charset="2"/>
              <a:buChar char="v"/>
            </a:pPr>
            <a:endParaRPr lang="en-IN" sz="1800" b="1" dirty="0">
              <a:solidFill>
                <a:srgbClr val="7030A0"/>
              </a:solidFill>
            </a:endParaRPr>
          </a:p>
          <a:p>
            <a:pPr marL="914400" lvl="2" indent="0">
              <a:buNone/>
            </a:pPr>
            <a:endParaRPr lang="en-IN" sz="1800" b="1" dirty="0">
              <a:solidFill>
                <a:srgbClr val="7030A0"/>
              </a:solidFill>
            </a:endParaRPr>
          </a:p>
          <a:p>
            <a:pPr marL="914400" lvl="2" indent="0">
              <a:buNone/>
            </a:pPr>
            <a:endParaRPr sz="1800" b="1" dirty="0">
              <a:solidFill>
                <a:srgbClr val="7030A0"/>
              </a:solidFill>
            </a:endParaRPr>
          </a:p>
          <a:p>
            <a:pPr lvl="2">
              <a:buFont typeface="Wingdings" panose="05000000000000000000" pitchFamily="2" charset="2"/>
              <a:buChar char="v"/>
            </a:pPr>
            <a:r>
              <a:rPr sz="1800" b="1" dirty="0">
                <a:solidFill>
                  <a:srgbClr val="7030A0"/>
                </a:solidFill>
              </a:rPr>
              <a:t>Speed comparison (Top 5 vs Bottom 5)</a:t>
            </a:r>
            <a:endParaRPr lang="en-IN" sz="1800" b="1" dirty="0">
              <a:solidFill>
                <a:srgbClr val="7030A0"/>
              </a:solidFill>
            </a:endParaRPr>
          </a:p>
          <a:p>
            <a:pPr lvl="2">
              <a:buFont typeface="Wingdings" panose="05000000000000000000" pitchFamily="2" charset="2"/>
              <a:buChar char="v"/>
            </a:pPr>
            <a:endParaRPr lang="en-IN" dirty="0"/>
          </a:p>
          <a:p>
            <a:pPr lvl="2">
              <a:buFont typeface="Wingdings" panose="05000000000000000000" pitchFamily="2" charset="2"/>
              <a:buChar char="v"/>
            </a:pPr>
            <a:endParaRPr lang="en-IN" dirty="0"/>
          </a:p>
          <a:p>
            <a:pPr marL="914400" lvl="2" indent="0">
              <a:buNone/>
            </a:pPr>
            <a:endParaRPr lang="en-IN" dirty="0"/>
          </a:p>
          <a:p>
            <a:pPr marL="0" indent="0">
              <a:buNone/>
            </a:pPr>
            <a:r>
              <a:rPr sz="2600" b="1" i="1" u="sng" dirty="0"/>
              <a:t>Insight: </a:t>
            </a:r>
            <a:r>
              <a:rPr sz="2400" dirty="0"/>
              <a:t>Higher speed often correlates with better on-time performance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7EDC52-DF17-2383-3072-4B42DC7A2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860" y="1564075"/>
            <a:ext cx="4264252" cy="1231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40A112-E57F-55E1-F98B-565A57396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203" y="3390461"/>
            <a:ext cx="4905149" cy="10191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5B40FE-12A1-1037-5244-45CD3204C0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860" y="5004884"/>
            <a:ext cx="3830412" cy="561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173"/>
            <a:ext cx="8229600" cy="1143000"/>
          </a:xfrm>
        </p:spPr>
        <p:txBody>
          <a:bodyPr>
            <a:normAutofit/>
          </a:bodyPr>
          <a:lstStyle/>
          <a:p>
            <a:r>
              <a:rPr sz="3200" b="1" i="1" u="sng" dirty="0">
                <a:solidFill>
                  <a:srgbClr val="FF0000"/>
                </a:solidFill>
              </a:rPr>
              <a:t>Task 6: Shipment Tracking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028" y="531926"/>
            <a:ext cx="8229600" cy="6326074"/>
          </a:xfrm>
        </p:spPr>
        <p:txBody>
          <a:bodyPr>
            <a:normAutofit fontScale="85000" lnSpcReduction="20000"/>
          </a:bodyPr>
          <a:lstStyle/>
          <a:p>
            <a:pPr lvl="2">
              <a:buFont typeface="Wingdings" panose="05000000000000000000" pitchFamily="2" charset="2"/>
              <a:buChar char="v"/>
            </a:pPr>
            <a:endParaRPr lang="en-IN" b="1" dirty="0"/>
          </a:p>
          <a:p>
            <a:pPr lvl="2">
              <a:buFont typeface="Wingdings" panose="05000000000000000000" pitchFamily="2" charset="2"/>
              <a:buChar char="v"/>
            </a:pPr>
            <a:r>
              <a:rPr sz="2100" b="1" dirty="0">
                <a:solidFill>
                  <a:srgbClr val="7030A0"/>
                </a:solidFill>
              </a:rPr>
              <a:t>Last checkpoint per order</a:t>
            </a:r>
            <a:endParaRPr lang="en-IN" sz="2100" b="1" dirty="0">
              <a:solidFill>
                <a:srgbClr val="7030A0"/>
              </a:solidFill>
            </a:endParaRPr>
          </a:p>
          <a:p>
            <a:pPr lvl="2">
              <a:buFont typeface="Wingdings" panose="05000000000000000000" pitchFamily="2" charset="2"/>
              <a:buChar char="v"/>
            </a:pPr>
            <a:endParaRPr lang="en-IN" b="1" dirty="0"/>
          </a:p>
          <a:p>
            <a:pPr lvl="2">
              <a:buFont typeface="Wingdings" panose="05000000000000000000" pitchFamily="2" charset="2"/>
              <a:buChar char="v"/>
            </a:pPr>
            <a:endParaRPr lang="en-IN" b="1" dirty="0"/>
          </a:p>
          <a:p>
            <a:pPr lvl="2">
              <a:buFont typeface="Wingdings" panose="05000000000000000000" pitchFamily="2" charset="2"/>
              <a:buChar char="v"/>
            </a:pPr>
            <a:endParaRPr lang="en-IN" b="1" dirty="0"/>
          </a:p>
          <a:p>
            <a:pPr lvl="2">
              <a:buFont typeface="Wingdings" panose="05000000000000000000" pitchFamily="2" charset="2"/>
              <a:buChar char="v"/>
            </a:pPr>
            <a:endParaRPr lang="en-IN" b="1" dirty="0"/>
          </a:p>
          <a:p>
            <a:pPr lvl="2">
              <a:buFont typeface="Wingdings" panose="05000000000000000000" pitchFamily="2" charset="2"/>
              <a:buChar char="v"/>
            </a:pPr>
            <a:endParaRPr b="1" dirty="0"/>
          </a:p>
          <a:p>
            <a:pPr lvl="2">
              <a:buFont typeface="Wingdings" panose="05000000000000000000" pitchFamily="2" charset="2"/>
              <a:buChar char="v"/>
            </a:pPr>
            <a:r>
              <a:rPr sz="2100" b="1" dirty="0">
                <a:solidFill>
                  <a:srgbClr val="7030A0"/>
                </a:solidFill>
              </a:rPr>
              <a:t>Most common delay reasons</a:t>
            </a:r>
            <a:endParaRPr lang="en-IN" sz="2100" b="1" dirty="0">
              <a:solidFill>
                <a:srgbClr val="7030A0"/>
              </a:solidFill>
            </a:endParaRPr>
          </a:p>
          <a:p>
            <a:pPr lvl="2">
              <a:buFont typeface="Wingdings" panose="05000000000000000000" pitchFamily="2" charset="2"/>
              <a:buChar char="v"/>
            </a:pPr>
            <a:endParaRPr lang="en-IN" b="1" dirty="0"/>
          </a:p>
          <a:p>
            <a:pPr marL="914400" lvl="2" indent="0">
              <a:buNone/>
            </a:pPr>
            <a:endParaRPr lang="en-IN" b="1" dirty="0"/>
          </a:p>
          <a:p>
            <a:pPr marL="914400" lvl="2" indent="0">
              <a:buNone/>
            </a:pPr>
            <a:endParaRPr lang="en-IN" b="1" dirty="0"/>
          </a:p>
          <a:p>
            <a:pPr marL="914400" lvl="2" indent="0">
              <a:buNone/>
            </a:pPr>
            <a:endParaRPr lang="en-IN" b="1" dirty="0"/>
          </a:p>
          <a:p>
            <a:pPr marL="914400" lvl="2" indent="0">
              <a:buNone/>
            </a:pPr>
            <a:endParaRPr sz="1900" b="1" dirty="0"/>
          </a:p>
          <a:p>
            <a:pPr lvl="2">
              <a:buFont typeface="Wingdings" panose="05000000000000000000" pitchFamily="2" charset="2"/>
              <a:buChar char="v"/>
            </a:pPr>
            <a:r>
              <a:rPr sz="2100" b="1" dirty="0">
                <a:solidFill>
                  <a:srgbClr val="7030A0"/>
                </a:solidFill>
              </a:rPr>
              <a:t>Orders with &gt;2 delayed checkpoints</a:t>
            </a:r>
            <a:endParaRPr lang="en-IN" sz="2100" b="1" dirty="0">
              <a:solidFill>
                <a:srgbClr val="7030A0"/>
              </a:solidFill>
            </a:endParaRPr>
          </a:p>
          <a:p>
            <a:pPr lvl="2">
              <a:buFont typeface="Wingdings" panose="05000000000000000000" pitchFamily="2" charset="2"/>
              <a:buChar char="v"/>
            </a:pPr>
            <a:endParaRPr lang="en-IN" b="1" dirty="0"/>
          </a:p>
          <a:p>
            <a:pPr lvl="2">
              <a:buFont typeface="Wingdings" panose="05000000000000000000" pitchFamily="2" charset="2"/>
              <a:buChar char="v"/>
            </a:pPr>
            <a:endParaRPr b="1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IN" sz="2400" b="1" u="sng" dirty="0"/>
              <a:t> Note: </a:t>
            </a:r>
            <a:r>
              <a:rPr sz="2400" dirty="0"/>
              <a:t>Repeated delays indicate operational breakdown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AA8642-4391-76A0-A889-457370CF6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886" y="1205989"/>
            <a:ext cx="4485821" cy="1171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8CA3D6-84A4-7BFF-E2FD-62BA0DFF8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886" y="2833317"/>
            <a:ext cx="4005037" cy="9663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BDD978-B968-0AA1-F47B-8621EF20D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7886" y="4582037"/>
            <a:ext cx="6480628" cy="1470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8497" y="140876"/>
            <a:ext cx="6161314" cy="731837"/>
          </a:xfrm>
        </p:spPr>
        <p:txBody>
          <a:bodyPr>
            <a:normAutofit/>
          </a:bodyPr>
          <a:lstStyle/>
          <a:p>
            <a:r>
              <a:rPr sz="3200" b="1" i="1" u="sng" dirty="0">
                <a:solidFill>
                  <a:srgbClr val="FF0000"/>
                </a:solidFill>
              </a:rPr>
              <a:t>Task 7: KPI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00314"/>
            <a:ext cx="8229600" cy="5482772"/>
          </a:xfrm>
        </p:spPr>
        <p:txBody>
          <a:bodyPr/>
          <a:lstStyle/>
          <a:p>
            <a:pPr marL="0" indent="0">
              <a:buNone/>
            </a:pPr>
            <a:r>
              <a:rPr sz="2000" b="1" u="sng" dirty="0"/>
              <a:t>KPIs Generated: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sz="1800" b="1" dirty="0">
                <a:solidFill>
                  <a:srgbClr val="7030A0"/>
                </a:solidFill>
              </a:rPr>
              <a:t>Average Delivery Delay per Region</a:t>
            </a:r>
            <a:endParaRPr lang="en-IN" sz="1800" b="1" dirty="0">
              <a:solidFill>
                <a:srgbClr val="7030A0"/>
              </a:solidFill>
            </a:endParaRPr>
          </a:p>
          <a:p>
            <a:pPr lvl="2">
              <a:buFont typeface="Wingdings" panose="05000000000000000000" pitchFamily="2" charset="2"/>
              <a:buChar char="Ø"/>
            </a:pPr>
            <a:endParaRPr lang="en-IN" b="1" dirty="0"/>
          </a:p>
          <a:p>
            <a:pPr lvl="2">
              <a:buFont typeface="Wingdings" panose="05000000000000000000" pitchFamily="2" charset="2"/>
              <a:buChar char="Ø"/>
            </a:pPr>
            <a:endParaRPr lang="en-IN" b="1" dirty="0"/>
          </a:p>
          <a:p>
            <a:pPr lvl="2">
              <a:buFont typeface="Wingdings" panose="05000000000000000000" pitchFamily="2" charset="2"/>
              <a:buChar char="Ø"/>
            </a:pPr>
            <a:endParaRPr lang="en-IN" b="1" dirty="0"/>
          </a:p>
          <a:p>
            <a:pPr lvl="2">
              <a:buFont typeface="Wingdings" panose="05000000000000000000" pitchFamily="2" charset="2"/>
              <a:buChar char="Ø"/>
            </a:pPr>
            <a:endParaRPr lang="en-IN" b="1" dirty="0"/>
          </a:p>
          <a:p>
            <a:pPr lvl="2">
              <a:buFont typeface="Wingdings" panose="05000000000000000000" pitchFamily="2" charset="2"/>
              <a:buChar char="Ø"/>
            </a:pPr>
            <a:endParaRPr b="1" dirty="0"/>
          </a:p>
          <a:p>
            <a:pPr lvl="2">
              <a:buFont typeface="Wingdings" panose="05000000000000000000" pitchFamily="2" charset="2"/>
              <a:buChar char="Ø"/>
            </a:pPr>
            <a:r>
              <a:rPr sz="1600" b="1" dirty="0">
                <a:solidFill>
                  <a:srgbClr val="7030A0"/>
                </a:solidFill>
              </a:rPr>
              <a:t>On-Time Delivery %</a:t>
            </a:r>
            <a:endParaRPr lang="en-IN" sz="1600" b="1" dirty="0">
              <a:solidFill>
                <a:srgbClr val="7030A0"/>
              </a:solidFill>
            </a:endParaRPr>
          </a:p>
          <a:p>
            <a:pPr lvl="2">
              <a:buFont typeface="Wingdings" panose="05000000000000000000" pitchFamily="2" charset="2"/>
              <a:buChar char="Ø"/>
            </a:pPr>
            <a:endParaRPr lang="en-IN" b="1" dirty="0"/>
          </a:p>
          <a:p>
            <a:pPr marL="914400" lvl="2" indent="0">
              <a:buNone/>
            </a:pPr>
            <a:endParaRPr b="1" dirty="0"/>
          </a:p>
          <a:p>
            <a:pPr lvl="2">
              <a:buFont typeface="Wingdings" panose="05000000000000000000" pitchFamily="2" charset="2"/>
              <a:buChar char="Ø"/>
            </a:pPr>
            <a:r>
              <a:rPr sz="1800" b="1" dirty="0">
                <a:solidFill>
                  <a:srgbClr val="7030A0"/>
                </a:solidFill>
              </a:rPr>
              <a:t>Average Traffic Delay per Route</a:t>
            </a:r>
            <a:endParaRPr lang="en-IN" sz="1800" b="1" dirty="0">
              <a:solidFill>
                <a:srgbClr val="7030A0"/>
              </a:solidFill>
            </a:endParaRPr>
          </a:p>
          <a:p>
            <a:pPr lvl="2">
              <a:buFont typeface="Wingdings" panose="05000000000000000000" pitchFamily="2" charset="2"/>
              <a:buChar char="Ø"/>
            </a:pPr>
            <a:endParaRPr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2FD4DA-4401-B753-F0F5-D7C7213FB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469" y="1526863"/>
            <a:ext cx="4613274" cy="1200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5AF95B-8D1D-B371-96B3-87EA34FB1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497" y="3721413"/>
            <a:ext cx="3233964" cy="4095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A9DAB7-CFC6-3969-26A7-1A39DE6AC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3354" y="4794662"/>
            <a:ext cx="4047218" cy="1190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8629" y="572747"/>
            <a:ext cx="6524171" cy="596219"/>
          </a:xfrm>
        </p:spPr>
        <p:txBody>
          <a:bodyPr>
            <a:noAutofit/>
          </a:bodyPr>
          <a:lstStyle/>
          <a:p>
            <a:r>
              <a:rPr sz="3200" b="1" i="1" u="sng" dirty="0">
                <a:solidFill>
                  <a:srgbClr val="FF0000"/>
                </a:solidFill>
              </a:rPr>
              <a:t>Key Insights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570" y="1638075"/>
            <a:ext cx="6347714" cy="388077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sz="2800" dirty="0"/>
              <a:t>20% of routes cause majority of delays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2800" dirty="0"/>
              <a:t>Bottleneck warehouses impact multiple routes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2800" dirty="0"/>
              <a:t>Underperforming agents reduce efficiency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sz="2800" dirty="0"/>
              <a:t>Traffic delay strongly impacts late deliveries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1943" y="539523"/>
            <a:ext cx="8229600" cy="1031648"/>
          </a:xfrm>
        </p:spPr>
        <p:txBody>
          <a:bodyPr>
            <a:normAutofit/>
          </a:bodyPr>
          <a:lstStyle/>
          <a:p>
            <a:r>
              <a:rPr sz="3600" b="1" i="1" u="sng" dirty="0">
                <a:solidFill>
                  <a:srgbClr val="FF0000"/>
                </a:solidFill>
              </a:rP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74799"/>
            <a:ext cx="8229600" cy="308791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sz="2400" dirty="0"/>
              <a:t>Implement AI-based route optimization</a:t>
            </a:r>
          </a:p>
          <a:p>
            <a:pPr marL="514350" indent="-514350">
              <a:buFont typeface="+mj-lt"/>
              <a:buAutoNum type="arabicPeriod"/>
            </a:pPr>
            <a:r>
              <a:rPr sz="2400" dirty="0"/>
              <a:t>Reduce warehouse bottlenecks</a:t>
            </a:r>
          </a:p>
          <a:p>
            <a:pPr marL="514350" indent="-514350">
              <a:buFont typeface="+mj-lt"/>
              <a:buAutoNum type="arabicPeriod"/>
            </a:pPr>
            <a:r>
              <a:rPr sz="2400" dirty="0"/>
              <a:t>Introduce agent performance monitoring</a:t>
            </a:r>
          </a:p>
          <a:p>
            <a:pPr marL="514350" indent="-514350">
              <a:buFont typeface="+mj-lt"/>
              <a:buAutoNum type="arabicPeriod"/>
            </a:pPr>
            <a:r>
              <a:rPr sz="2400" dirty="0"/>
              <a:t>Use predictive traffic analytics</a:t>
            </a:r>
          </a:p>
          <a:p>
            <a:pPr marL="514350" indent="-514350">
              <a:buFont typeface="+mj-lt"/>
              <a:buAutoNum type="arabicPeriod"/>
            </a:pPr>
            <a:r>
              <a:rPr sz="2400" dirty="0"/>
              <a:t>Trigger escalation after second delay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4343" y="652576"/>
            <a:ext cx="4332514" cy="755876"/>
          </a:xfrm>
        </p:spPr>
        <p:txBody>
          <a:bodyPr>
            <a:normAutofit/>
          </a:bodyPr>
          <a:lstStyle/>
          <a:p>
            <a:r>
              <a:rPr sz="3600" b="1" i="1" u="sng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9542" y="1759857"/>
            <a:ext cx="7627257" cy="3131457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sz="2800" dirty="0"/>
              <a:t>This SQL-driven analysis identified inefficiencies</a:t>
            </a:r>
            <a:r>
              <a:rPr lang="en-IN" sz="2800" dirty="0"/>
              <a:t>.</a:t>
            </a:r>
            <a:endParaRPr sz="2800" dirty="0"/>
          </a:p>
          <a:p>
            <a:pPr>
              <a:buFont typeface="Wingdings" panose="05000000000000000000" pitchFamily="2" charset="2"/>
              <a:buChar char="v"/>
            </a:pPr>
            <a:r>
              <a:rPr sz="2800" dirty="0"/>
              <a:t>quantified performance gaps, and provided actionable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800" dirty="0"/>
              <a:t>recommendations to improve logistics efficiency.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800" dirty="0"/>
              <a:t>Estimated delay reduction potential: 15–25%</a:t>
            </a:r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45713"/>
          </a:xfrm>
        </p:spPr>
        <p:txBody>
          <a:bodyPr/>
          <a:lstStyle/>
          <a:p>
            <a:pPr algn="ctr"/>
            <a:r>
              <a:rPr b="1" dirty="0">
                <a:solidFill>
                  <a:srgbClr val="FF0000"/>
                </a:solidFill>
              </a:rPr>
              <a:t>Video Submission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024" y="2006043"/>
            <a:ext cx="6347714" cy="3880773"/>
          </a:xfrm>
        </p:spPr>
        <p:txBody>
          <a:bodyPr>
            <a:normAutofit lnSpcReduction="10000"/>
          </a:bodyPr>
          <a:lstStyle/>
          <a:p>
            <a:r>
              <a:rPr lang="en-IN" sz="2000" b="1" i="1" u="sng" dirty="0"/>
              <a:t>Google Drive Link- </a:t>
            </a:r>
            <a:r>
              <a:rPr lang="en-IN" dirty="0">
                <a:hlinkClick r:id="rId2"/>
              </a:rPr>
              <a:t>https://drive.google.com/file/d/1BzdfQLPRXAVpYinMSYaKCdA7EawdN3nW/view?usp=drive_link</a:t>
            </a:r>
            <a:endParaRPr lang="en-IN" dirty="0"/>
          </a:p>
          <a:p>
            <a:endParaRPr lang="en-IN" dirty="0"/>
          </a:p>
          <a:p>
            <a:r>
              <a:rPr lang="en-IN" sz="2000" b="1" i="1" u="sng" dirty="0"/>
              <a:t>Loom Link- </a:t>
            </a:r>
            <a:r>
              <a:rPr lang="en-IN" dirty="0">
                <a:hlinkClick r:id="rId3"/>
              </a:rPr>
              <a:t>https://www.loom.com/share/c81157497d5249e69ed1e9064857f691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US" dirty="0" err="1">
                <a:hlinkClick r:id="rId4"/>
              </a:rPr>
              <a:t>Complate</a:t>
            </a:r>
            <a:r>
              <a:rPr lang="en-US" dirty="0">
                <a:hlinkClick r:id="rId4"/>
              </a:rPr>
              <a:t> Project Link Google Drive</a:t>
            </a:r>
            <a:endParaRPr lang="en-IN" dirty="0"/>
          </a:p>
          <a:p>
            <a:pPr marL="0" indent="0">
              <a:buNone/>
            </a:pPr>
            <a:r>
              <a:rPr dirty="0"/>
              <a:t>-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94AEAE-938A-E4F9-335B-B1198ECB2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28008493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1811</TotalTime>
  <Words>517</Words>
  <Application>Microsoft Office PowerPoint</Application>
  <PresentationFormat>On-screen Show (4:3)</PresentationFormat>
  <Paragraphs>184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Trebuchet MS</vt:lpstr>
      <vt:lpstr>Wingdings</vt:lpstr>
      <vt:lpstr>Wingdings 3</vt:lpstr>
      <vt:lpstr>Facet</vt:lpstr>
      <vt:lpstr>Logistics Optimization for Delivery Routes – Amazon</vt:lpstr>
      <vt:lpstr>Business Background</vt:lpstr>
      <vt:lpstr>Project Objective</vt:lpstr>
      <vt:lpstr>Dataset Overview</vt:lpstr>
      <vt:lpstr>Task 1: Data Cleaning</vt:lpstr>
      <vt:lpstr>Task 2: Delivery Delay Analysis</vt:lpstr>
      <vt:lpstr>Task 3: Route Optimization Metrics</vt:lpstr>
      <vt:lpstr>Route Optimization Insights</vt:lpstr>
      <vt:lpstr>Task 4: Warehouse Performance</vt:lpstr>
      <vt:lpstr>Task 5: Delivery Agent Performance</vt:lpstr>
      <vt:lpstr>Task 6: Shipment Tracking Analytics</vt:lpstr>
      <vt:lpstr>Task 7: KPI Dashboard</vt:lpstr>
      <vt:lpstr>Key Insights Summary</vt:lpstr>
      <vt:lpstr>Business Recommendations</vt:lpstr>
      <vt:lpstr>Conclusion</vt:lpstr>
      <vt:lpstr>Video Submission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MD ASMATH SHAIKH</cp:lastModifiedBy>
  <cp:revision>14</cp:revision>
  <dcterms:created xsi:type="dcterms:W3CDTF">2013-01-27T09:14:16Z</dcterms:created>
  <dcterms:modified xsi:type="dcterms:W3CDTF">2026-03-13T18:18:56Z</dcterms:modified>
  <cp:category/>
</cp:coreProperties>
</file>